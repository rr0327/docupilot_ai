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DOCUPILOT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Private · Explainable · Locally deployable document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EEF5FF"/>
                </a:solidFill>
                <a:latin typeface="Aptos"/>
              </a:defRPr>
            </a:pPr>
            <a:r>
              <a:t>From raw documents to cited answers, invoice intelligence and human-verified classifications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251960"/>
            <a:ext cx="10698480" cy="114300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44988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5AD4A1"/>
                </a:solidFill>
                <a:latin typeface="Aptos"/>
              </a:defRPr>
            </a:pPr>
            <a:r>
              <a:t>Final project demonstration   |   Tech_Innovators   |   SQLite3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Document information is fragmented, expensive to review, and difficult to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Search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PDFs, scans and text documents are difficult to search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Evidence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Answers without page references are hard to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Manual invoices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Line items and arithmetic need review and correction.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Privacy concern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Originals and extracted data require user-level access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What DocuPilot AI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One workflow, explainable outputs, human oversight.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Document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PyMuPDF / TXT; optional Tesseract OCR for scanned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Evidence-grounded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Keyword search with optional local multilingual semantic/hybrid retrieval.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Invoice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Line items, consistency checks, review and supplier analytics.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Classification and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Invoice / policy / report / contract / unknown, page-linked reasons.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Single Django API · SQLite3 storage · optional asynchronous worker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82296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37360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5D3DC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03120"/>
            <a:ext cx="10149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Dashboard  •  Documents  •  Evidence  •  Review  • 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88920"/>
            <a:ext cx="10515600" cy="82296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880360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5D3DC"/>
                </a:solidFill>
                <a:latin typeface="Aptos"/>
              </a:defRPr>
            </a:pPr>
            <a:r>
              <a:t>Django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246120"/>
            <a:ext cx="10149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Session auth  •  CSRF  •  Owner-scoped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5010912" cy="100584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069079"/>
            <a:ext cx="4645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5D3DC"/>
                </a:solidFill>
                <a:latin typeface="Aptos"/>
              </a:defRPr>
            </a:pPr>
            <a:r>
              <a:t>SQLite3 + private_media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434840"/>
            <a:ext cx="46451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Records, job states and private originals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977639"/>
            <a:ext cx="5102352" cy="100584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4069079"/>
            <a:ext cx="4736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5D3DC"/>
                </a:solidFill>
                <a:latin typeface="Aptos"/>
              </a:defRPr>
            </a:pPr>
            <a:r>
              <a:t>Document engines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4434840"/>
            <a:ext cx="473659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OCR  •  Search  •  Classification  •  Invoices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4126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AD4A1"/>
                </a:solidFill>
                <a:latin typeface="Aptos"/>
              </a:defRPr>
            </a:pPr>
            <a:r>
              <a:t>Optional: Celery worker ← Redis broker   |   Synchronous extraction remains available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A repeatable eight-minute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09344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01 ·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84248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Session authentication, CSRF protection and sign-out.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444752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609344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02 ·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1984248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Extract a consented PDF/TXT and inspect page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8892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95351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03 ·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328415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Show a cited answer and owner-authorized PDF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278892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295351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04 · 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328415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Extract line items, verify arithmetic and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33087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297679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05 · Classify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672583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Inspect matched evidence, override and retain history.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8" y="4133087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4297679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06 · Protect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4672583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Switch accounts and verify cross-owner access is denied.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Evidence-Grounded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Human-verifiable answers, not unsupported free-form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25603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084831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45D3DC"/>
                </a:solidFill>
                <a:latin typeface="Aptos"/>
              </a:defRPr>
            </a:pPr>
            <a:r>
              <a:t>Question → retrieved document chunks → source-based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2816352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EEF5FF"/>
                </a:solidFill>
                <a:latin typeface="Aptos"/>
              </a:defRPr>
            </a:pPr>
            <a:r>
              <a:t>Every demonstrated claim should be checked against an original page and the private PDF viewer. Keyword mode works offline; semantic/hybrid requires the optional local embedding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Invoice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Extraction + arithmetic + human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Identify invoice fields and line items from extracted pages.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Compare quantities × unit prices against line totals.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Human decisions remain auditable; extraction is not accounting verification.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Summarize approved data by supplier/currency as supported.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Explainable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Abstention is safer than a forced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Four document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Invoice · Policy · Report · 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Unknown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Low-quality, ambiguous and insufficient evidence can abstain.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Page-linked matches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Classification phrases and excerpts remain tied to source pages.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Corrections stored separately from machine outputs, with 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Privacy and API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Protect users and avoid overclaiming production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Session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HttpOnly cookies; CSRF on writes; rotation and idle expiry.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Rate limiting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SQLite3-backed login-failure tracking; edge controls still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Private originals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No public MEDIA_URL; owner-authorized evidence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No MFA; independent penetration test and production TLS audit pending.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SQLite3 Backup &amp; 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Updated Windows-compatible backup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Consistent DB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SQLite online-backup API produces a snapshot.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Private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Archive bundles private media with a SHA-256 manifest.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Digest checks, integrity check and safe archive paths.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Protected 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Dry-run default; refuse overwrite; stop workers before restore.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515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5AD4A1"/>
                </a:solidFill>
                <a:latin typeface="Aptos"/>
              </a:defRPr>
            </a:pPr>
            <a:r>
              <a:t>Backup archives are NOT encrypted by the tool; encrypt them before off-site transfer.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Evidence and Test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Keep reported tests distinct from independent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Frontend unit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35/35 passed in prior handoff; rechecked in updated package.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Offline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Backup and release artifact regression tests rechecked.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Windows 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User-reported Phase 5 Step 3 checklist: 20/20 passed.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Known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No independently adjudicated real-world classification accuracy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Architecture Decisions &amp;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A pragmatic local-first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SQLite3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Simple local deployment; write concurrency is limited.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691640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856232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Optional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231136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Celery/Redis and multilingual E5 model are not required for base demo.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OCR 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Scanned text can be wrong; always review source images.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3035808"/>
            <a:ext cx="5303520" cy="11887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3200400"/>
            <a:ext cx="4937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5D3DC"/>
                </a:solidFill>
                <a:latin typeface="Aptos"/>
              </a:defRPr>
            </a:pPr>
            <a:r>
              <a:t>Production posture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575304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EF5FF"/>
                </a:solidFill>
                <a:latin typeface="Aptos"/>
              </a:defRPr>
            </a:pPr>
            <a:r>
              <a:t>Controlled demo/submission ready; public Internet release remains NO-GO.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Live Demo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10-minute walkthrough with concrete checkpoints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EEF5FF"/>
                </a:solidFill>
                <a:latin typeface="Aptos"/>
              </a:defRPr>
            </a:pPr>
            <a:r>
              <a:t>0:00–1:30   Title, ownership, session login</a:t>
            </a:r>
          </a:p>
          <a:p>
            <a:pPr>
              <a:spcAft>
                <a:spcPts val="1200"/>
              </a:spcAft>
              <a:defRPr sz="2100" b="0">
                <a:solidFill>
                  <a:srgbClr val="EEF5FF"/>
                </a:solidFill>
                <a:latin typeface="Aptos"/>
              </a:defRPr>
            </a:pPr>
            <a:r>
              <a:t>1:30–3:45   Upload, extraction, source-grounded Q&amp;A</a:t>
            </a:r>
          </a:p>
          <a:p>
            <a:pPr>
              <a:spcAft>
                <a:spcPts val="1200"/>
              </a:spcAft>
              <a:defRPr sz="2100" b="0">
                <a:solidFill>
                  <a:srgbClr val="EEF5FF"/>
                </a:solidFill>
                <a:latin typeface="Aptos"/>
              </a:defRPr>
            </a:pPr>
            <a:r>
              <a:t>3:45–6:15   Invoice parsing, human review, analytics</a:t>
            </a:r>
          </a:p>
          <a:p>
            <a:pPr>
              <a:spcAft>
                <a:spcPts val="1200"/>
              </a:spcAft>
              <a:defRPr sz="2100" b="0">
                <a:solidFill>
                  <a:srgbClr val="EEF5FF"/>
                </a:solidFill>
                <a:latin typeface="Aptos"/>
              </a:defRPr>
            </a:pPr>
            <a:r>
              <a:t>6:15–8:00   Classification, feedback and reliability</a:t>
            </a:r>
          </a:p>
          <a:p>
            <a:pPr>
              <a:spcAft>
                <a:spcPts val="1200"/>
              </a:spcAft>
              <a:defRPr sz="2100" b="0">
                <a:solidFill>
                  <a:srgbClr val="EEF5FF"/>
                </a:solidFill>
                <a:latin typeface="Aptos"/>
              </a:defRPr>
            </a:pPr>
            <a:r>
              <a:t>8:00–9:00   Cross-owner authorization test</a:t>
            </a:r>
          </a:p>
          <a:p>
            <a:pPr>
              <a:spcAft>
                <a:spcPts val="1200"/>
              </a:spcAft>
              <a:defRPr sz="2100" b="0">
                <a:solidFill>
                  <a:srgbClr val="EEF5FF"/>
                </a:solidFill>
                <a:latin typeface="Aptos"/>
              </a:defRPr>
            </a:pPr>
            <a:r>
              <a:t>9:00–10:00  Release acceptance and backup/restore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Release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Separation of competition submission and Internet-facing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00784"/>
            <a:ext cx="5065776" cy="3072384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1700784"/>
            <a:ext cx="5065776" cy="3072384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5AD4A1"/>
                </a:solidFill>
                <a:latin typeface="Aptos"/>
              </a:defRPr>
            </a:pPr>
            <a:r>
              <a:t>CONTROLLED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16352"/>
            <a:ext cx="4480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EEF5FF"/>
                </a:solidFill>
                <a:latin typeface="Aptos"/>
              </a:defRPr>
            </a:pPr>
            <a:r>
              <a:t>Suitable after local acceptance, redacted test evidence and synthetic/consented documents.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0574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5D3DC"/>
                </a:solidFill>
                <a:latin typeface="Aptos"/>
              </a:defRPr>
            </a:pPr>
            <a:r>
              <a:t>PUBLIC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816352"/>
            <a:ext cx="4480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EEF5FF"/>
                </a:solidFill>
                <a:latin typeface="Aptos"/>
              </a:defRPr>
            </a:pPr>
            <a:r>
              <a:t>Not approved until security review, TLS, monitoring, MFA decision and recovery drills.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EEF5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3B5CD"/>
                </a:solidFill>
                <a:latin typeface="Aptos"/>
              </a:defRPr>
            </a:pPr>
            <a:r>
              <a:t>Tech_Innovators · DocuPilot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3B5CD"/>
                </a:solidFill>
                <a:latin typeface="Aptos"/>
              </a:defRPr>
            </a:pPr>
            <a:r>
              <a:t>DocuPilot AI  •  Tech_Innovators  • 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5D3D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EF5FF"/>
                </a:solidFill>
                <a:latin typeface="Aptos"/>
              </a:defRPr>
            </a:pPr>
            <a:r>
              <a:t>Explainable document intelligence with private storage, cited evidence and human oversight.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AD4A1"/>
                </a:solidFill>
                <a:latin typeface="Aptos"/>
              </a:defRPr>
            </a:pPr>
            <a:r>
              <a:t>Questions?  •  Architecture  •  Security  •  Live demo  •  Release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